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26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rickwork-SD-R1acro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 useBgFill="1">
        <p:nvSpPr>
          <p:cNvPr id="13" name="Freeform 12"/>
          <p:cNvSpPr/>
          <p:nvPr/>
        </p:nvSpPr>
        <p:spPr>
          <a:xfrm>
            <a:off x="-8467" y="-16933"/>
            <a:ext cx="8754534" cy="6451600"/>
          </a:xfrm>
          <a:custGeom>
            <a:avLst/>
            <a:gdLst/>
            <a:ahLst/>
            <a:cxnLst/>
            <a:rect l="l" t="t" r="r" b="b"/>
            <a:pathLst>
              <a:path w="8754534" h="6451600">
                <a:moveTo>
                  <a:pt x="8373534" y="0"/>
                </a:moveTo>
                <a:lnTo>
                  <a:pt x="8754534" y="5994400"/>
                </a:lnTo>
                <a:lnTo>
                  <a:pt x="0" y="6451600"/>
                </a:lnTo>
                <a:lnTo>
                  <a:pt x="0" y="0"/>
                </a:lnTo>
                <a:lnTo>
                  <a:pt x="8373534" y="0"/>
                </a:lnTo>
                <a:close/>
              </a:path>
            </a:pathLst>
          </a:custGeom>
          <a:ln>
            <a:noFill/>
          </a:ln>
          <a:effectLst>
            <a:outerShdw blurRad="98425" dist="76200" dir="4380000" algn="tl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Freeform 22"/>
          <p:cNvSpPr/>
          <p:nvPr/>
        </p:nvSpPr>
        <p:spPr>
          <a:xfrm>
            <a:off x="-10379" y="4445000"/>
            <a:ext cx="8464695" cy="1715811"/>
          </a:xfrm>
          <a:custGeom>
            <a:avLst/>
            <a:gdLst/>
            <a:ahLst/>
            <a:cxnLst/>
            <a:rect l="l" t="t" r="r" b="b"/>
            <a:pathLst>
              <a:path w="8428428" h="1878553">
                <a:moveTo>
                  <a:pt x="0" y="438229"/>
                </a:moveTo>
                <a:lnTo>
                  <a:pt x="8343246" y="0"/>
                </a:lnTo>
                <a:lnTo>
                  <a:pt x="8428428" y="1424838"/>
                </a:lnTo>
                <a:lnTo>
                  <a:pt x="7515" y="1878553"/>
                </a:lnTo>
                <a:lnTo>
                  <a:pt x="0" y="438229"/>
                </a:lnTo>
                <a:close/>
              </a:path>
            </a:pathLst>
          </a:custGeom>
          <a:gradFill flip="none" rotWithShape="1">
            <a:gsLst>
              <a:gs pos="34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9" name="Freeform 28"/>
          <p:cNvSpPr/>
          <p:nvPr/>
        </p:nvSpPr>
        <p:spPr>
          <a:xfrm>
            <a:off x="-2864" y="0"/>
            <a:ext cx="5811235" cy="321615"/>
          </a:xfrm>
          <a:custGeom>
            <a:avLst/>
            <a:gdLst/>
            <a:ahLst/>
            <a:cxnLst/>
            <a:rect l="l" t="t" r="r" b="b"/>
            <a:pathLst>
              <a:path w="5811235" h="321615">
                <a:moveTo>
                  <a:pt x="0" y="0"/>
                </a:moveTo>
                <a:lnTo>
                  <a:pt x="5811235" y="0"/>
                </a:lnTo>
                <a:lnTo>
                  <a:pt x="1" y="321615"/>
                </a:lnTo>
                <a:cubicBezTo>
                  <a:pt x="1" y="214410"/>
                  <a:pt x="0" y="107205"/>
                  <a:pt x="0" y="0"/>
                </a:cubicBezTo>
                <a:close/>
              </a:path>
            </a:pathLst>
          </a:custGeom>
          <a:gradFill flip="none" rotWithShape="1">
            <a:gsLst>
              <a:gs pos="34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Freeform 29"/>
          <p:cNvSpPr/>
          <p:nvPr/>
        </p:nvSpPr>
        <p:spPr>
          <a:xfrm rot="21420000">
            <a:off x="-170768" y="213023"/>
            <a:ext cx="8480534" cy="5746008"/>
          </a:xfrm>
          <a:custGeom>
            <a:avLst/>
            <a:gdLst/>
            <a:ahLst/>
            <a:cxnLst/>
            <a:rect l="l" t="t" r="r" b="b"/>
            <a:pathLst>
              <a:path w="11307378" h="5746008">
                <a:moveTo>
                  <a:pt x="11270997" y="0"/>
                </a:moveTo>
                <a:lnTo>
                  <a:pt x="11307378" y="5746008"/>
                </a:lnTo>
                <a:lnTo>
                  <a:pt x="1" y="5743137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451416" y="668338"/>
            <a:ext cx="7533524" cy="2766528"/>
          </a:xfrm>
        </p:spPr>
        <p:txBody>
          <a:bodyPr anchor="b">
            <a:normAutofit/>
          </a:bodyPr>
          <a:lstStyle>
            <a:lvl1pPr algn="r"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554462" y="3446830"/>
            <a:ext cx="7512060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3669071" y="4714242"/>
            <a:ext cx="4607740" cy="942356"/>
          </a:xfrm>
        </p:spPr>
        <p:txBody>
          <a:bodyPr/>
          <a:lstStyle>
            <a:lvl1pPr algn="ctr">
              <a:defRPr sz="42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9144" y="4956048"/>
            <a:ext cx="2990088" cy="914400"/>
          </a:xfrm>
          <a:noFill/>
        </p:spPr>
        <p:txBody>
          <a:bodyPr wrap="square" rtlCol="0">
            <a:spAutoFit/>
          </a:bodyPr>
          <a:lstStyle>
            <a:lvl1pPr>
              <a:defRPr lang="en-US" sz="4200" dirty="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7401518" y="3819948"/>
            <a:ext cx="680390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3" name="5-Point Star 32"/>
          <p:cNvSpPr/>
          <p:nvPr/>
        </p:nvSpPr>
        <p:spPr>
          <a:xfrm rot="21420000">
            <a:off x="3121951" y="5057183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9058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1" y="2063396"/>
            <a:ext cx="7796030" cy="331118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908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6030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3742267"/>
            <a:ext cx="7796030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93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7797662" cy="11581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0" y="2063396"/>
            <a:ext cx="3816536" cy="3311189"/>
          </a:xfrm>
        </p:spPr>
        <p:txBody>
          <a:bodyPr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495478" y="2063396"/>
            <a:ext cx="3814904" cy="3311189"/>
          </a:xfrm>
        </p:spPr>
        <p:txBody>
          <a:bodyPr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174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7796030" cy="11581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9569" y="2063396"/>
            <a:ext cx="3591317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514352" y="2861733"/>
            <a:ext cx="3816534" cy="2512852"/>
          </a:xfrm>
        </p:spPr>
        <p:txBody>
          <a:bodyPr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5340" y="2063396"/>
            <a:ext cx="359667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495477" y="2861733"/>
            <a:ext cx="3816535" cy="2512852"/>
          </a:xfrm>
        </p:spPr>
        <p:txBody>
          <a:bodyPr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819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530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660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232" y="685800"/>
            <a:ext cx="3095145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784600" y="685801"/>
            <a:ext cx="4525781" cy="468878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232" y="2709053"/>
            <a:ext cx="3095146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175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440817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7740" y="1"/>
            <a:ext cx="3162641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2709053"/>
            <a:ext cx="440817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574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106333"/>
            <a:ext cx="7796031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351" y="685800"/>
            <a:ext cx="7794385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4702923"/>
            <a:ext cx="7796046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574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77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4106333"/>
            <a:ext cx="7796047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9464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99" y="685800"/>
            <a:ext cx="7143765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162698" y="3610032"/>
            <a:ext cx="6500967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4106334"/>
            <a:ext cx="779766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04280" y="88785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97147" y="290648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682485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1723855"/>
            <a:ext cx="7796030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4247468"/>
            <a:ext cx="7796030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08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6030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4352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4352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5967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175966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7785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27785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9248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6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8880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4335" y="2063396"/>
            <a:ext cx="2482596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8880" y="4389288"/>
            <a:ext cx="2482596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8058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176999" y="2063396"/>
            <a:ext cx="2482596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176998" y="4389286"/>
            <a:ext cx="2483655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6708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26614" y="2063394"/>
            <a:ext cx="2482596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26614" y="4389284"/>
            <a:ext cx="2482596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3293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2063396"/>
            <a:ext cx="7796030" cy="331119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4700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1896" y="685801"/>
            <a:ext cx="1698485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685801"/>
            <a:ext cx="5928323" cy="4688785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2837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722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rickwork-SD-R1acrop.jp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19048" y="1"/>
            <a:ext cx="9004013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6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2063396"/>
            <a:ext cx="7797662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73562" y="5757334"/>
            <a:ext cx="283845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 cap="all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1" y="5757334"/>
            <a:ext cx="412478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0" cap="all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15341" y="5757334"/>
            <a:ext cx="68039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0" cap="all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46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  <p:sldLayoutId id="2147483746" r:id="rId13"/>
    <p:sldLayoutId id="2147483747" r:id="rId14"/>
    <p:sldLayoutId id="2147483748" r:id="rId15"/>
    <p:sldLayoutId id="2147483749" r:id="rId16"/>
    <p:sldLayoutId id="2147483750" r:id="rId17"/>
    <p:sldLayoutId id="2147483751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5118" y="3800469"/>
            <a:ext cx="7797662" cy="1151965"/>
          </a:xfrm>
        </p:spPr>
        <p:txBody>
          <a:bodyPr anchor="t"/>
          <a:lstStyle/>
          <a:p>
            <a:r>
              <a:rPr lang="en-ID" sz="2400" b="1" dirty="0"/>
              <a:t>Nama : Dody Pintarko</a:t>
            </a:r>
            <a:br>
              <a:rPr lang="en-ID" sz="2400" b="1" dirty="0"/>
            </a:br>
            <a:r>
              <a:rPr lang="en-ID" sz="2400" b="1" dirty="0"/>
              <a:t>NPM    : 24066020008</a:t>
            </a:r>
            <a:br>
              <a:rPr lang="en-ID" sz="2400" b="1" dirty="0"/>
            </a:br>
            <a:r>
              <a:rPr lang="en-ID" sz="2400" b="1" dirty="0" err="1"/>
              <a:t>Dosen</a:t>
            </a:r>
            <a:r>
              <a:rPr lang="en-ID" sz="2400" b="1" dirty="0"/>
              <a:t> : DR. </a:t>
            </a:r>
            <a:r>
              <a:rPr lang="en-ID" sz="2400" b="1" dirty="0" err="1" smtClean="0"/>
              <a:t>basuki</a:t>
            </a:r>
            <a:r>
              <a:rPr lang="en-ID" sz="2400" b="1" dirty="0" smtClean="0"/>
              <a:t> </a:t>
            </a:r>
            <a:r>
              <a:rPr lang="en-ID" sz="2400" b="1" dirty="0" err="1" smtClean="0"/>
              <a:t>rahmat</a:t>
            </a:r>
            <a:r>
              <a:rPr lang="en-ID" sz="2400" b="1" dirty="0" smtClean="0"/>
              <a:t>, S.si., </a:t>
            </a:r>
            <a:r>
              <a:rPr lang="en-ID" sz="2400" b="1" dirty="0"/>
              <a:t>M.T</a:t>
            </a:r>
            <a:br>
              <a:rPr lang="en-ID" sz="2400" b="1" dirty="0"/>
            </a:br>
            <a:endParaRPr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35051" y="740394"/>
            <a:ext cx="4710974" cy="3043577"/>
          </a:xfrm>
        </p:spPr>
        <p:txBody>
          <a:bodyPr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sz="3600" dirty="0" err="1"/>
              <a:t>Integrasi</a:t>
            </a:r>
            <a:r>
              <a:rPr sz="3600" dirty="0"/>
              <a:t> </a:t>
            </a:r>
            <a:endParaRPr lang="en-US" sz="3600" dirty="0" smtClean="0"/>
          </a:p>
          <a:p>
            <a:pPr marL="0" indent="0" algn="ctr">
              <a:spcBef>
                <a:spcPts val="0"/>
              </a:spcBef>
              <a:buNone/>
            </a:pPr>
            <a:r>
              <a:rPr sz="3600" dirty="0" smtClean="0"/>
              <a:t>COSO–ITIL–COBIT </a:t>
            </a:r>
            <a:endParaRPr lang="en-US" sz="3600" dirty="0" smtClean="0"/>
          </a:p>
          <a:p>
            <a:pPr marL="0" indent="0" algn="ctr">
              <a:spcBef>
                <a:spcPts val="0"/>
              </a:spcBef>
              <a:buNone/>
            </a:pPr>
            <a:r>
              <a:rPr sz="3600" dirty="0" err="1" smtClean="0"/>
              <a:t>untuk</a:t>
            </a:r>
            <a:r>
              <a:rPr sz="3600" dirty="0" smtClean="0"/>
              <a:t> </a:t>
            </a:r>
            <a:r>
              <a:rPr sz="3600" dirty="0" err="1"/>
              <a:t>Penguatan</a:t>
            </a:r>
            <a:r>
              <a:rPr sz="3600" dirty="0"/>
              <a:t> Tata </a:t>
            </a:r>
            <a:r>
              <a:rPr sz="3600" dirty="0" err="1"/>
              <a:t>Kelola</a:t>
            </a:r>
            <a:r>
              <a:rPr sz="3600" dirty="0"/>
              <a:t> </a:t>
            </a:r>
            <a:r>
              <a:rPr sz="3600" dirty="0" err="1"/>
              <a:t>SiAP</a:t>
            </a:r>
            <a:r>
              <a:rPr sz="3600" dirty="0"/>
              <a:t> BPK </a:t>
            </a:r>
            <a:r>
              <a:rPr sz="3600" dirty="0" smtClean="0"/>
              <a:t>RI</a:t>
            </a:r>
            <a:endParaRPr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6497C1-9A54-F562-7964-313DFE2352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722" y="740394"/>
            <a:ext cx="2177388" cy="226278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Latar Belakang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 smtClean="0"/>
              <a:t>SiAP</a:t>
            </a:r>
            <a:r>
              <a:rPr dirty="0" smtClean="0"/>
              <a:t> </a:t>
            </a:r>
            <a:r>
              <a:rPr dirty="0"/>
              <a:t>sebagai </a:t>
            </a:r>
            <a:r>
              <a:rPr dirty="0" err="1"/>
              <a:t>tulang</a:t>
            </a:r>
            <a:r>
              <a:rPr dirty="0"/>
              <a:t> </a:t>
            </a:r>
            <a:r>
              <a:rPr dirty="0" err="1"/>
              <a:t>punggung</a:t>
            </a:r>
            <a:r>
              <a:rPr dirty="0"/>
              <a:t> digital pemeriksaan BPK</a:t>
            </a:r>
          </a:p>
          <a:p>
            <a:r>
              <a:rPr dirty="0" err="1" smtClean="0"/>
              <a:t>Digitalisasi</a:t>
            </a:r>
            <a:r>
              <a:rPr dirty="0" smtClean="0"/>
              <a:t> </a:t>
            </a:r>
            <a:r>
              <a:rPr dirty="0" err="1"/>
              <a:t>memerlukan</a:t>
            </a:r>
            <a:r>
              <a:rPr dirty="0"/>
              <a:t> </a:t>
            </a:r>
            <a:r>
              <a:rPr dirty="0" err="1"/>
              <a:t>tata</a:t>
            </a:r>
            <a:r>
              <a:rPr dirty="0"/>
              <a:t> </a:t>
            </a:r>
            <a:r>
              <a:rPr dirty="0" err="1"/>
              <a:t>kelola</a:t>
            </a:r>
            <a:r>
              <a:rPr dirty="0"/>
              <a:t> proses, TI, </a:t>
            </a:r>
            <a:r>
              <a:rPr dirty="0" err="1"/>
              <a:t>dan</a:t>
            </a:r>
            <a:r>
              <a:rPr dirty="0"/>
              <a:t> </a:t>
            </a:r>
            <a:r>
              <a:rPr dirty="0" err="1"/>
              <a:t>layanan</a:t>
            </a:r>
            <a:r>
              <a:rPr dirty="0"/>
              <a:t> TI</a:t>
            </a:r>
          </a:p>
          <a:p>
            <a:r>
              <a:rPr dirty="0" err="1" smtClean="0"/>
              <a:t>Risiko</a:t>
            </a:r>
            <a:r>
              <a:rPr dirty="0" smtClean="0"/>
              <a:t> </a:t>
            </a:r>
            <a:r>
              <a:rPr dirty="0"/>
              <a:t>TI dapat </a:t>
            </a:r>
            <a:r>
              <a:rPr dirty="0" err="1"/>
              <a:t>memengaruhi</a:t>
            </a:r>
            <a:r>
              <a:rPr dirty="0"/>
              <a:t> </a:t>
            </a:r>
            <a:r>
              <a:rPr dirty="0" err="1"/>
              <a:t>integritas</a:t>
            </a:r>
            <a:r>
              <a:rPr dirty="0"/>
              <a:t> pemeriksaan</a:t>
            </a:r>
          </a:p>
          <a:p>
            <a:r>
              <a:rPr dirty="0" err="1" smtClean="0"/>
              <a:t>Dibutuhkan</a:t>
            </a:r>
            <a:r>
              <a:rPr dirty="0" smtClean="0"/>
              <a:t> </a:t>
            </a:r>
            <a:r>
              <a:rPr dirty="0" err="1"/>
              <a:t>kerangka</a:t>
            </a:r>
            <a:r>
              <a:rPr dirty="0"/>
              <a:t> </a:t>
            </a:r>
            <a:r>
              <a:rPr dirty="0" err="1"/>
              <a:t>evaluasi</a:t>
            </a:r>
            <a:r>
              <a:rPr dirty="0"/>
              <a:t> yang </a:t>
            </a:r>
            <a:r>
              <a:rPr dirty="0" err="1"/>
              <a:t>komprehensif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Tujuan Penelitian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 smtClean="0"/>
              <a:t>Menilai</a:t>
            </a:r>
            <a:r>
              <a:rPr dirty="0" smtClean="0"/>
              <a:t> </a:t>
            </a:r>
            <a:r>
              <a:rPr dirty="0" err="1"/>
              <a:t>SiAP</a:t>
            </a:r>
            <a:r>
              <a:rPr dirty="0"/>
              <a:t> </a:t>
            </a:r>
            <a:r>
              <a:rPr dirty="0" err="1"/>
              <a:t>berdasarkan</a:t>
            </a:r>
            <a:r>
              <a:rPr dirty="0"/>
              <a:t> COSO (Internal Control)</a:t>
            </a:r>
          </a:p>
          <a:p>
            <a:r>
              <a:rPr dirty="0" err="1" smtClean="0"/>
              <a:t>Mengevaluasi</a:t>
            </a:r>
            <a:r>
              <a:rPr dirty="0" smtClean="0"/>
              <a:t> </a:t>
            </a:r>
            <a:r>
              <a:rPr dirty="0" err="1"/>
              <a:t>keselarasan</a:t>
            </a:r>
            <a:r>
              <a:rPr dirty="0"/>
              <a:t> dengan COBIT 2019 (IT Governance)</a:t>
            </a:r>
          </a:p>
          <a:p>
            <a:r>
              <a:rPr dirty="0" err="1" smtClean="0"/>
              <a:t>Menilai</a:t>
            </a:r>
            <a:r>
              <a:rPr dirty="0" smtClean="0"/>
              <a:t> </a:t>
            </a:r>
            <a:r>
              <a:rPr dirty="0" err="1"/>
              <a:t>layanan</a:t>
            </a:r>
            <a:r>
              <a:rPr dirty="0"/>
              <a:t> TI menggunakan ITIL 4 (Service Management)</a:t>
            </a:r>
          </a:p>
          <a:p>
            <a:r>
              <a:rPr dirty="0" err="1" smtClean="0"/>
              <a:t>Menyusun</a:t>
            </a:r>
            <a:r>
              <a:rPr dirty="0" smtClean="0"/>
              <a:t> </a:t>
            </a:r>
            <a:r>
              <a:rPr dirty="0"/>
              <a:t>model </a:t>
            </a:r>
            <a:r>
              <a:rPr dirty="0" err="1"/>
              <a:t>tata</a:t>
            </a:r>
            <a:r>
              <a:rPr dirty="0"/>
              <a:t> </a:t>
            </a:r>
            <a:r>
              <a:rPr dirty="0" err="1"/>
              <a:t>kelola</a:t>
            </a:r>
            <a:r>
              <a:rPr dirty="0"/>
              <a:t> </a:t>
            </a:r>
            <a:r>
              <a:rPr dirty="0" err="1"/>
              <a:t>integratif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Metodologi Penelitian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 smtClean="0"/>
              <a:t>Analisis</a:t>
            </a:r>
            <a:r>
              <a:rPr dirty="0" smtClean="0"/>
              <a:t> </a:t>
            </a:r>
            <a:r>
              <a:rPr dirty="0" err="1"/>
              <a:t>dokumen</a:t>
            </a:r>
            <a:r>
              <a:rPr dirty="0"/>
              <a:t> (COSO, COBIT, ITIL, Manual </a:t>
            </a:r>
            <a:r>
              <a:rPr dirty="0" err="1"/>
              <a:t>SiAP</a:t>
            </a:r>
            <a:r>
              <a:rPr dirty="0"/>
              <a:t>)</a:t>
            </a:r>
          </a:p>
          <a:p>
            <a:r>
              <a:rPr dirty="0" smtClean="0"/>
              <a:t>Conceptual </a:t>
            </a:r>
            <a:r>
              <a:rPr dirty="0"/>
              <a:t>mapping </a:t>
            </a:r>
            <a:r>
              <a:rPr dirty="0" err="1"/>
              <a:t>antara</a:t>
            </a:r>
            <a:r>
              <a:rPr dirty="0"/>
              <a:t> </a:t>
            </a:r>
            <a:r>
              <a:rPr dirty="0" err="1"/>
              <a:t>kerangka</a:t>
            </a:r>
            <a:r>
              <a:rPr dirty="0"/>
              <a:t> global </a:t>
            </a:r>
            <a:r>
              <a:rPr dirty="0" err="1"/>
              <a:t>dan</a:t>
            </a:r>
            <a:r>
              <a:rPr dirty="0"/>
              <a:t> </a:t>
            </a:r>
            <a:r>
              <a:rPr dirty="0" err="1"/>
              <a:t>fitur</a:t>
            </a:r>
            <a:r>
              <a:rPr dirty="0"/>
              <a:t> </a:t>
            </a:r>
            <a:r>
              <a:rPr dirty="0" err="1"/>
              <a:t>SiAP</a:t>
            </a:r>
            <a:endParaRPr dirty="0"/>
          </a:p>
          <a:p>
            <a:r>
              <a:rPr dirty="0" smtClean="0"/>
              <a:t>Gap </a:t>
            </a:r>
            <a:r>
              <a:rPr dirty="0"/>
              <a:t>analysis </a:t>
            </a:r>
            <a:r>
              <a:rPr dirty="0" err="1"/>
              <a:t>kondisi</a:t>
            </a:r>
            <a:r>
              <a:rPr dirty="0"/>
              <a:t> ideal vs </a:t>
            </a:r>
            <a:r>
              <a:rPr dirty="0" err="1"/>
              <a:t>implementasi</a:t>
            </a:r>
            <a:endParaRPr dirty="0"/>
          </a:p>
          <a:p>
            <a:r>
              <a:rPr dirty="0" err="1" smtClean="0"/>
              <a:t>Penyusunan</a:t>
            </a:r>
            <a:r>
              <a:rPr dirty="0" smtClean="0"/>
              <a:t> </a:t>
            </a:r>
            <a:r>
              <a:rPr dirty="0"/>
              <a:t>model </a:t>
            </a:r>
            <a:r>
              <a:rPr dirty="0" err="1"/>
              <a:t>integratif</a:t>
            </a:r>
            <a:r>
              <a:rPr dirty="0"/>
              <a:t> COSO–COBIT–ITIL–</a:t>
            </a:r>
            <a:r>
              <a:rPr dirty="0" err="1"/>
              <a:t>SiAP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Analisis COSO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 err="1"/>
              <a:t>Kekuatan</a:t>
            </a:r>
            <a:r>
              <a:rPr dirty="0"/>
              <a:t>:</a:t>
            </a:r>
          </a:p>
          <a:p>
            <a:r>
              <a:rPr dirty="0" err="1" smtClean="0"/>
              <a:t>Kontrol</a:t>
            </a:r>
            <a:r>
              <a:rPr dirty="0" smtClean="0"/>
              <a:t> </a:t>
            </a:r>
            <a:r>
              <a:rPr dirty="0" err="1"/>
              <a:t>aktivitas</a:t>
            </a:r>
            <a:r>
              <a:rPr dirty="0"/>
              <a:t> </a:t>
            </a:r>
            <a:r>
              <a:rPr dirty="0" err="1"/>
              <a:t>kuat</a:t>
            </a:r>
            <a:r>
              <a:rPr dirty="0"/>
              <a:t> (</a:t>
            </a:r>
            <a:r>
              <a:rPr dirty="0" err="1"/>
              <a:t>validasi</a:t>
            </a:r>
            <a:r>
              <a:rPr dirty="0"/>
              <a:t> </a:t>
            </a:r>
            <a:r>
              <a:rPr dirty="0" err="1"/>
              <a:t>berjenjang</a:t>
            </a:r>
            <a:r>
              <a:rPr dirty="0"/>
              <a:t>)</a:t>
            </a:r>
          </a:p>
          <a:p>
            <a:r>
              <a:rPr dirty="0" smtClean="0"/>
              <a:t>Monitoring </a:t>
            </a:r>
            <a:r>
              <a:rPr dirty="0" err="1"/>
              <a:t>efektif</a:t>
            </a:r>
            <a:r>
              <a:rPr dirty="0"/>
              <a:t> melalui audit trail </a:t>
            </a:r>
            <a:r>
              <a:rPr dirty="0" err="1"/>
              <a:t>dan</a:t>
            </a:r>
            <a:r>
              <a:rPr dirty="0"/>
              <a:t> dashboard</a:t>
            </a:r>
          </a:p>
          <a:p>
            <a:pPr marL="0" indent="0">
              <a:buNone/>
            </a:pPr>
            <a:r>
              <a:rPr dirty="0" smtClean="0"/>
              <a:t>Area </a:t>
            </a:r>
            <a:r>
              <a:rPr dirty="0" err="1"/>
              <a:t>Perbaikan</a:t>
            </a:r>
            <a:r>
              <a:rPr dirty="0"/>
              <a:t>:</a:t>
            </a:r>
          </a:p>
          <a:p>
            <a:r>
              <a:rPr dirty="0" smtClean="0"/>
              <a:t>Penilaian </a:t>
            </a:r>
            <a:r>
              <a:rPr dirty="0" err="1"/>
              <a:t>risiko</a:t>
            </a:r>
            <a:r>
              <a:rPr dirty="0"/>
              <a:t> TI belum tersedia</a:t>
            </a:r>
          </a:p>
          <a:p>
            <a:r>
              <a:rPr dirty="0" err="1" smtClean="0"/>
              <a:t>Budaya</a:t>
            </a:r>
            <a:r>
              <a:rPr dirty="0" smtClean="0"/>
              <a:t> </a:t>
            </a:r>
            <a:r>
              <a:rPr dirty="0" err="1"/>
              <a:t>risiko</a:t>
            </a:r>
            <a:r>
              <a:rPr dirty="0"/>
              <a:t> digital belum </a:t>
            </a:r>
            <a:r>
              <a:rPr dirty="0" err="1"/>
              <a:t>terinternalisasi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Analisis</a:t>
            </a:r>
            <a:r>
              <a:rPr dirty="0"/>
              <a:t>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179388" indent="-179388">
              <a:spcBef>
                <a:spcPts val="0"/>
              </a:spcBef>
            </a:pPr>
            <a:r>
              <a:rPr sz="1800" dirty="0" err="1"/>
              <a:t>Kuat</a:t>
            </a:r>
            <a:r>
              <a:rPr sz="1800" dirty="0"/>
              <a:t>:</a:t>
            </a:r>
          </a:p>
          <a:p>
            <a:pPr marL="0" indent="179388">
              <a:spcBef>
                <a:spcPts val="0"/>
              </a:spcBef>
              <a:buNone/>
            </a:pPr>
            <a:r>
              <a:rPr sz="1800" dirty="0" smtClean="0"/>
              <a:t>APO </a:t>
            </a:r>
            <a:r>
              <a:rPr sz="1800" dirty="0"/>
              <a:t>– </a:t>
            </a:r>
            <a:r>
              <a:rPr sz="1800" dirty="0" err="1"/>
              <a:t>Perencanaan</a:t>
            </a:r>
            <a:r>
              <a:rPr sz="1800" dirty="0"/>
              <a:t> &amp; </a:t>
            </a:r>
            <a:r>
              <a:rPr sz="1800" dirty="0" err="1"/>
              <a:t>pengorganisasian</a:t>
            </a:r>
            <a:r>
              <a:rPr sz="1800" dirty="0"/>
              <a:t> pemeriksaan</a:t>
            </a:r>
          </a:p>
          <a:p>
            <a:pPr>
              <a:spcBef>
                <a:spcPts val="0"/>
              </a:spcBef>
            </a:pPr>
            <a:endParaRPr sz="1800" dirty="0"/>
          </a:p>
          <a:p>
            <a:pPr marL="179388" indent="-179388">
              <a:spcBef>
                <a:spcPts val="0"/>
              </a:spcBef>
            </a:pPr>
            <a:r>
              <a:rPr sz="1800" dirty="0"/>
              <a:t>Sedang:</a:t>
            </a:r>
          </a:p>
          <a:p>
            <a:pPr marL="0" indent="179388">
              <a:spcBef>
                <a:spcPts val="0"/>
              </a:spcBef>
              <a:buNone/>
            </a:pPr>
            <a:r>
              <a:rPr sz="1800" dirty="0" smtClean="0"/>
              <a:t>MEA </a:t>
            </a:r>
            <a:r>
              <a:rPr sz="1800" dirty="0"/>
              <a:t>– Monitoring TI belum </a:t>
            </a:r>
            <a:r>
              <a:rPr sz="1800" dirty="0" err="1"/>
              <a:t>komprehensif</a:t>
            </a:r>
            <a:endParaRPr sz="1800" dirty="0"/>
          </a:p>
          <a:p>
            <a:pPr>
              <a:spcBef>
                <a:spcPts val="0"/>
              </a:spcBef>
            </a:pPr>
            <a:endParaRPr sz="1800" dirty="0"/>
          </a:p>
          <a:p>
            <a:pPr marL="179388" indent="-179388">
              <a:spcBef>
                <a:spcPts val="0"/>
              </a:spcBef>
            </a:pPr>
            <a:r>
              <a:rPr sz="1800" dirty="0" err="1"/>
              <a:t>Lemah</a:t>
            </a:r>
            <a:r>
              <a:rPr sz="1800" dirty="0"/>
              <a:t>:</a:t>
            </a:r>
          </a:p>
          <a:p>
            <a:pPr marL="0" indent="179388">
              <a:spcBef>
                <a:spcPts val="0"/>
              </a:spcBef>
              <a:buNone/>
            </a:pPr>
            <a:r>
              <a:rPr sz="1800" dirty="0" smtClean="0"/>
              <a:t>EDM </a:t>
            </a:r>
            <a:r>
              <a:rPr sz="1800" dirty="0"/>
              <a:t>– Tidak </a:t>
            </a:r>
            <a:r>
              <a:rPr sz="1800" dirty="0" err="1"/>
              <a:t>ada</a:t>
            </a:r>
            <a:r>
              <a:rPr sz="1800" dirty="0"/>
              <a:t> SLA/KPI TI</a:t>
            </a:r>
          </a:p>
          <a:p>
            <a:pPr marL="0" indent="179388">
              <a:spcBef>
                <a:spcPts val="0"/>
              </a:spcBef>
              <a:buNone/>
            </a:pPr>
            <a:r>
              <a:rPr sz="1800" dirty="0" smtClean="0"/>
              <a:t>BAI </a:t>
            </a:r>
            <a:r>
              <a:rPr sz="1800" dirty="0"/>
              <a:t>– Tidak </a:t>
            </a:r>
            <a:r>
              <a:rPr sz="1800" dirty="0" err="1"/>
              <a:t>ada</a:t>
            </a:r>
            <a:r>
              <a:rPr sz="1800" dirty="0"/>
              <a:t> SDLC &amp; change management</a:t>
            </a:r>
          </a:p>
          <a:p>
            <a:pPr marL="0" indent="179388">
              <a:spcBef>
                <a:spcPts val="0"/>
              </a:spcBef>
              <a:buNone/>
            </a:pPr>
            <a:r>
              <a:rPr sz="1800" dirty="0" smtClean="0"/>
              <a:t>DSS </a:t>
            </a:r>
            <a:r>
              <a:rPr sz="1800" dirty="0"/>
              <a:t>– Tidak </a:t>
            </a:r>
            <a:r>
              <a:rPr sz="1800" dirty="0" err="1"/>
              <a:t>ada</a:t>
            </a:r>
            <a:r>
              <a:rPr sz="1800" dirty="0"/>
              <a:t> ticketing, DRP/BCP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Analisis ITIL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1" y="1837766"/>
            <a:ext cx="7797662" cy="3311189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sz="2400" dirty="0" err="1"/>
              <a:t>Terpenuhi</a:t>
            </a:r>
            <a:r>
              <a:rPr sz="2400" dirty="0"/>
              <a:t> </a:t>
            </a:r>
            <a:r>
              <a:rPr sz="2400" dirty="0" err="1"/>
              <a:t>sebagian</a:t>
            </a:r>
            <a:r>
              <a:rPr sz="2400" dirty="0"/>
              <a:t>:</a:t>
            </a:r>
          </a:p>
          <a:p>
            <a:pPr marL="0" indent="263525">
              <a:spcBef>
                <a:spcPts val="0"/>
              </a:spcBef>
              <a:buNone/>
            </a:pPr>
            <a:r>
              <a:rPr dirty="0" smtClean="0"/>
              <a:t>SSO</a:t>
            </a:r>
            <a:r>
              <a:rPr dirty="0"/>
              <a:t>, </a:t>
            </a:r>
            <a:r>
              <a:rPr dirty="0" err="1"/>
              <a:t>kontrol</a:t>
            </a:r>
            <a:r>
              <a:rPr dirty="0"/>
              <a:t> akses, VPN</a:t>
            </a:r>
          </a:p>
          <a:p>
            <a:pPr>
              <a:spcBef>
                <a:spcPts val="0"/>
              </a:spcBef>
            </a:pPr>
            <a:endParaRPr dirty="0"/>
          </a:p>
          <a:p>
            <a:pPr marL="179388" indent="-179388">
              <a:spcBef>
                <a:spcPts val="0"/>
              </a:spcBef>
            </a:pPr>
            <a:r>
              <a:rPr sz="2400" dirty="0"/>
              <a:t>Belum </a:t>
            </a:r>
            <a:r>
              <a:rPr sz="2400" dirty="0" err="1"/>
              <a:t>terpenuhi</a:t>
            </a:r>
            <a:r>
              <a:rPr sz="2400" dirty="0"/>
              <a:t>:</a:t>
            </a:r>
          </a:p>
          <a:p>
            <a:pPr marL="0" indent="179388">
              <a:spcBef>
                <a:spcPts val="0"/>
              </a:spcBef>
              <a:buNone/>
            </a:pPr>
            <a:r>
              <a:rPr dirty="0" smtClean="0"/>
              <a:t>Incident </a:t>
            </a:r>
            <a:r>
              <a:rPr dirty="0"/>
              <a:t>&amp; problem management</a:t>
            </a:r>
          </a:p>
          <a:p>
            <a:pPr marL="0" indent="179388">
              <a:spcBef>
                <a:spcPts val="0"/>
              </a:spcBef>
              <a:buNone/>
            </a:pPr>
            <a:r>
              <a:rPr dirty="0" smtClean="0"/>
              <a:t>Service </a:t>
            </a:r>
            <a:r>
              <a:rPr dirty="0"/>
              <a:t>desk formal</a:t>
            </a:r>
          </a:p>
          <a:p>
            <a:pPr marL="0" indent="179388">
              <a:spcBef>
                <a:spcPts val="0"/>
              </a:spcBef>
              <a:buNone/>
            </a:pPr>
            <a:r>
              <a:rPr dirty="0" smtClean="0"/>
              <a:t>DRP/BCP</a:t>
            </a:r>
            <a:endParaRPr dirty="0"/>
          </a:p>
          <a:p>
            <a:pPr marL="0" indent="179388">
              <a:spcBef>
                <a:spcPts val="0"/>
              </a:spcBef>
              <a:buNone/>
            </a:pPr>
            <a:r>
              <a:rPr dirty="0" smtClean="0"/>
              <a:t>Continual </a:t>
            </a:r>
            <a:r>
              <a:rPr dirty="0"/>
              <a:t>improvement proses TI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Integratif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3778" y="2063396"/>
            <a:ext cx="7797662" cy="3311189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sz="2400" dirty="0"/>
              <a:t>1. COSO → </a:t>
            </a:r>
            <a:r>
              <a:rPr sz="2400" dirty="0" err="1"/>
              <a:t>Mengendalikan</a:t>
            </a:r>
            <a:r>
              <a:rPr sz="2400" dirty="0"/>
              <a:t> proses audit</a:t>
            </a:r>
          </a:p>
          <a:p>
            <a:pPr>
              <a:spcBef>
                <a:spcPts val="0"/>
              </a:spcBef>
            </a:pPr>
            <a:r>
              <a:rPr sz="2400" dirty="0"/>
              <a:t>2. COBIT 2019 → </a:t>
            </a:r>
            <a:r>
              <a:rPr sz="2400" dirty="0" err="1"/>
              <a:t>Mengelola</a:t>
            </a:r>
            <a:r>
              <a:rPr sz="2400" dirty="0"/>
              <a:t> </a:t>
            </a:r>
            <a:r>
              <a:rPr sz="2400" dirty="0" err="1"/>
              <a:t>tata</a:t>
            </a:r>
            <a:r>
              <a:rPr sz="2400" dirty="0"/>
              <a:t> </a:t>
            </a:r>
            <a:r>
              <a:rPr sz="2400" dirty="0" err="1"/>
              <a:t>kelola</a:t>
            </a:r>
            <a:r>
              <a:rPr sz="2400" dirty="0"/>
              <a:t> TI</a:t>
            </a:r>
          </a:p>
          <a:p>
            <a:pPr>
              <a:spcBef>
                <a:spcPts val="0"/>
              </a:spcBef>
            </a:pPr>
            <a:r>
              <a:rPr sz="2400" dirty="0"/>
              <a:t>3. ITIL 4 → </a:t>
            </a:r>
            <a:r>
              <a:rPr sz="2400" dirty="0" err="1"/>
              <a:t>Menjamin</a:t>
            </a:r>
            <a:r>
              <a:rPr sz="2400" dirty="0"/>
              <a:t> </a:t>
            </a:r>
            <a:r>
              <a:rPr sz="2400" dirty="0" err="1"/>
              <a:t>kualitas</a:t>
            </a:r>
            <a:r>
              <a:rPr sz="2400" dirty="0"/>
              <a:t> </a:t>
            </a:r>
            <a:r>
              <a:rPr sz="2400" dirty="0" err="1"/>
              <a:t>layanan</a:t>
            </a:r>
            <a:r>
              <a:rPr sz="2400" dirty="0"/>
              <a:t> TI</a:t>
            </a:r>
          </a:p>
          <a:p>
            <a:pPr>
              <a:spcBef>
                <a:spcPts val="0"/>
              </a:spcBef>
            </a:pPr>
            <a:endParaRPr sz="2400" dirty="0"/>
          </a:p>
          <a:p>
            <a:pPr marL="0" indent="0">
              <a:spcBef>
                <a:spcPts val="0"/>
              </a:spcBef>
              <a:buNone/>
            </a:pPr>
            <a:r>
              <a:rPr sz="2400" dirty="0"/>
              <a:t>Hasil </a:t>
            </a:r>
            <a:r>
              <a:rPr sz="2400" dirty="0" err="1" smtClean="0"/>
              <a:t>integrasi</a:t>
            </a:r>
            <a:r>
              <a:rPr sz="2400" dirty="0" smtClean="0"/>
              <a:t>:</a:t>
            </a:r>
            <a:endParaRPr lang="en-US" sz="2400" dirty="0" smtClean="0"/>
          </a:p>
          <a:p>
            <a:pPr marL="0" indent="0">
              <a:spcBef>
                <a:spcPts val="0"/>
              </a:spcBef>
              <a:buNone/>
            </a:pPr>
            <a:r>
              <a:rPr sz="2400" dirty="0" err="1" smtClean="0"/>
              <a:t>SiAP</a:t>
            </a:r>
            <a:r>
              <a:rPr sz="2400" dirty="0" smtClean="0"/>
              <a:t> </a:t>
            </a:r>
            <a:r>
              <a:rPr sz="2400" dirty="0"/>
              <a:t>menjadi </a:t>
            </a:r>
            <a:r>
              <a:rPr sz="2400" dirty="0" err="1"/>
              <a:t>ekosistem</a:t>
            </a:r>
            <a:r>
              <a:rPr sz="2400" dirty="0"/>
              <a:t> audit digital yang </a:t>
            </a:r>
            <a:r>
              <a:rPr sz="2400" dirty="0" err="1"/>
              <a:t>stabil</a:t>
            </a:r>
            <a:r>
              <a:rPr sz="2400" dirty="0"/>
              <a:t>, </a:t>
            </a:r>
            <a:r>
              <a:rPr sz="2400" dirty="0" err="1"/>
              <a:t>aman</a:t>
            </a:r>
            <a:r>
              <a:rPr sz="2400" dirty="0"/>
              <a:t>, </a:t>
            </a:r>
            <a:r>
              <a:rPr sz="2400" dirty="0" err="1"/>
              <a:t>dan</a:t>
            </a:r>
            <a:r>
              <a:rPr sz="2400" dirty="0"/>
              <a:t> </a:t>
            </a:r>
            <a:r>
              <a:rPr sz="2400" dirty="0" err="1"/>
              <a:t>akuntabel</a:t>
            </a:r>
            <a:endParaRPr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Kesimpulan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 smtClean="0"/>
              <a:t>SiAP</a:t>
            </a:r>
            <a:r>
              <a:rPr dirty="0" smtClean="0"/>
              <a:t> </a:t>
            </a:r>
            <a:r>
              <a:rPr dirty="0"/>
              <a:t>sudah </a:t>
            </a:r>
            <a:r>
              <a:rPr dirty="0" err="1"/>
              <a:t>kuat</a:t>
            </a:r>
            <a:r>
              <a:rPr dirty="0"/>
              <a:t> </a:t>
            </a:r>
            <a:r>
              <a:rPr dirty="0" err="1"/>
              <a:t>dari</a:t>
            </a:r>
            <a:r>
              <a:rPr dirty="0"/>
              <a:t> </a:t>
            </a:r>
            <a:r>
              <a:rPr dirty="0" err="1"/>
              <a:t>sisi</a:t>
            </a:r>
            <a:r>
              <a:rPr dirty="0"/>
              <a:t> proses audit (COSO)</a:t>
            </a:r>
          </a:p>
          <a:p>
            <a:r>
              <a:rPr dirty="0" err="1" smtClean="0"/>
              <a:t>Lemah</a:t>
            </a:r>
            <a:r>
              <a:rPr dirty="0" smtClean="0"/>
              <a:t> </a:t>
            </a:r>
            <a:r>
              <a:rPr dirty="0"/>
              <a:t>pada governance TI &amp; </a:t>
            </a:r>
            <a:r>
              <a:rPr dirty="0" err="1"/>
              <a:t>layanan</a:t>
            </a:r>
            <a:r>
              <a:rPr dirty="0"/>
              <a:t> TI (COBIT/ITIL)</a:t>
            </a:r>
          </a:p>
          <a:p>
            <a:r>
              <a:rPr dirty="0" err="1" smtClean="0"/>
              <a:t>Butuh</a:t>
            </a:r>
            <a:r>
              <a:rPr dirty="0" smtClean="0"/>
              <a:t> </a:t>
            </a:r>
            <a:r>
              <a:rPr dirty="0" err="1"/>
              <a:t>penguatan</a:t>
            </a:r>
            <a:r>
              <a:rPr dirty="0"/>
              <a:t> </a:t>
            </a:r>
            <a:r>
              <a:rPr dirty="0" err="1"/>
              <a:t>risiko</a:t>
            </a:r>
            <a:r>
              <a:rPr dirty="0"/>
              <a:t> TI, SDLC, service desk, DRP</a:t>
            </a:r>
          </a:p>
          <a:p>
            <a:r>
              <a:rPr dirty="0" smtClean="0"/>
              <a:t>Model </a:t>
            </a:r>
            <a:r>
              <a:rPr dirty="0" err="1"/>
              <a:t>integratif</a:t>
            </a:r>
            <a:r>
              <a:rPr dirty="0"/>
              <a:t> </a:t>
            </a:r>
            <a:r>
              <a:rPr dirty="0" err="1"/>
              <a:t>adalah</a:t>
            </a:r>
            <a:r>
              <a:rPr dirty="0"/>
              <a:t> </a:t>
            </a:r>
            <a:r>
              <a:rPr dirty="0" err="1"/>
              <a:t>arah</a:t>
            </a:r>
            <a:r>
              <a:rPr dirty="0"/>
              <a:t> </a:t>
            </a:r>
            <a:r>
              <a:rPr dirty="0" err="1"/>
              <a:t>strategis</a:t>
            </a:r>
            <a:r>
              <a:rPr dirty="0"/>
              <a:t> </a:t>
            </a:r>
            <a:r>
              <a:rPr dirty="0" err="1"/>
              <a:t>memperkuat</a:t>
            </a:r>
            <a:r>
              <a:rPr dirty="0"/>
              <a:t> sistem pemeriksaan digital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Rekomendasi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1" y="1893253"/>
            <a:ext cx="7797662" cy="3311189"/>
          </a:xfrm>
        </p:spPr>
        <p:txBody>
          <a:bodyPr>
            <a:normAutofit/>
          </a:bodyPr>
          <a:lstStyle/>
          <a:p>
            <a:r>
              <a:rPr sz="2200" dirty="0" err="1" smtClean="0"/>
              <a:t>Formalisasi</a:t>
            </a:r>
            <a:r>
              <a:rPr sz="2200" dirty="0" smtClean="0"/>
              <a:t> </a:t>
            </a:r>
            <a:r>
              <a:rPr sz="2200" dirty="0"/>
              <a:t>IT Risk Management</a:t>
            </a:r>
          </a:p>
          <a:p>
            <a:r>
              <a:rPr sz="2200" dirty="0" err="1" smtClean="0"/>
              <a:t>Penyusunan</a:t>
            </a:r>
            <a:r>
              <a:rPr sz="2200" dirty="0" smtClean="0"/>
              <a:t> </a:t>
            </a:r>
            <a:r>
              <a:rPr sz="2200" dirty="0"/>
              <a:t>SLA/OLA/KPI </a:t>
            </a:r>
            <a:r>
              <a:rPr sz="2200" dirty="0" err="1"/>
              <a:t>layanan</a:t>
            </a:r>
            <a:r>
              <a:rPr sz="2200" dirty="0"/>
              <a:t> TI </a:t>
            </a:r>
            <a:r>
              <a:rPr sz="2200" dirty="0" err="1"/>
              <a:t>SiAP</a:t>
            </a:r>
            <a:endParaRPr sz="2200" dirty="0"/>
          </a:p>
          <a:p>
            <a:r>
              <a:rPr sz="2200" dirty="0" err="1" smtClean="0"/>
              <a:t>Penerapan</a:t>
            </a:r>
            <a:r>
              <a:rPr sz="2200" dirty="0" smtClean="0"/>
              <a:t> </a:t>
            </a:r>
            <a:r>
              <a:rPr sz="2200" dirty="0"/>
              <a:t>SDLC &amp; change management</a:t>
            </a:r>
          </a:p>
          <a:p>
            <a:r>
              <a:rPr sz="2200" dirty="0" err="1" smtClean="0"/>
              <a:t>Membangun</a:t>
            </a:r>
            <a:r>
              <a:rPr sz="2200" dirty="0" smtClean="0"/>
              <a:t> </a:t>
            </a:r>
            <a:r>
              <a:rPr sz="2200" dirty="0"/>
              <a:t>service desk &amp; ticketing system</a:t>
            </a:r>
          </a:p>
          <a:p>
            <a:r>
              <a:rPr sz="2200" dirty="0" err="1" smtClean="0"/>
              <a:t>Menyusun</a:t>
            </a:r>
            <a:r>
              <a:rPr sz="2200" dirty="0" smtClean="0"/>
              <a:t> </a:t>
            </a:r>
            <a:r>
              <a:rPr sz="2200" dirty="0"/>
              <a:t>DRP/BCP </a:t>
            </a:r>
            <a:r>
              <a:rPr sz="2200" dirty="0" err="1"/>
              <a:t>dan</a:t>
            </a:r>
            <a:r>
              <a:rPr sz="2200" dirty="0"/>
              <a:t> </a:t>
            </a:r>
            <a:r>
              <a:rPr sz="2200" dirty="0" err="1"/>
              <a:t>uji</a:t>
            </a:r>
            <a:r>
              <a:rPr sz="2200" dirty="0"/>
              <a:t> </a:t>
            </a:r>
            <a:r>
              <a:rPr sz="2200" dirty="0" err="1"/>
              <a:t>berkala</a:t>
            </a:r>
            <a:endParaRPr sz="2200" dirty="0"/>
          </a:p>
          <a:p>
            <a:r>
              <a:rPr sz="2200" dirty="0" smtClean="0"/>
              <a:t>Audit </a:t>
            </a:r>
            <a:r>
              <a:rPr sz="2200" dirty="0"/>
              <a:t>TI internal </a:t>
            </a:r>
            <a:r>
              <a:rPr sz="2200" dirty="0" err="1"/>
              <a:t>rutin</a:t>
            </a:r>
            <a:endParaRPr sz="22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8FA751"/>
      </a:accent1>
      <a:accent2>
        <a:srgbClr val="629D7D"/>
      </a:accent2>
      <a:accent3>
        <a:srgbClr val="5A7AAB"/>
      </a:accent3>
      <a:accent4>
        <a:srgbClr val="AA618F"/>
      </a:accent4>
      <a:accent5>
        <a:srgbClr val="BA5445"/>
      </a:accent5>
      <a:accent6>
        <a:srgbClr val="C8A547"/>
      </a:accent6>
      <a:hlink>
        <a:srgbClr val="91BF1A"/>
      </a:hlink>
      <a:folHlink>
        <a:srgbClr val="ADBE82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CF823853-53CC-4249-AEDB-2EA9F718B2D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TM04033927[[fn=Main Event]]</Template>
  <TotalTime>20</TotalTime>
  <Words>339</Words>
  <Application>Microsoft Office PowerPoint</Application>
  <PresentationFormat>On-screen Show (4:3)</PresentationFormat>
  <Paragraphs>65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Impact</vt:lpstr>
      <vt:lpstr>Main Event</vt:lpstr>
      <vt:lpstr>Nama : Dody Pintarko NPM    : 24066020008 Dosen : DR. basuki rahmat, S.si., M.T </vt:lpstr>
      <vt:lpstr>Latar Belakang</vt:lpstr>
      <vt:lpstr>Tujuan Penelitian</vt:lpstr>
      <vt:lpstr>Metodologi Penelitian</vt:lpstr>
      <vt:lpstr>Analisis COSO</vt:lpstr>
      <vt:lpstr>Analisis COBIT 2019</vt:lpstr>
      <vt:lpstr>Analisis ITIL 4</vt:lpstr>
      <vt:lpstr>Model Integratif</vt:lpstr>
      <vt:lpstr>Kesimpulan</vt:lpstr>
      <vt:lpstr>Rekomendasi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Judul</dc:title>
  <dc:subject/>
  <dc:creator>Dody Pintarko</dc:creator>
  <cp:keywords/>
  <dc:description>generated using python-pptx</dc:description>
  <cp:lastModifiedBy>Dody Pintarko</cp:lastModifiedBy>
  <cp:revision>4</cp:revision>
  <dcterms:created xsi:type="dcterms:W3CDTF">2013-01-27T09:14:16Z</dcterms:created>
  <dcterms:modified xsi:type="dcterms:W3CDTF">2025-12-01T05:55:12Z</dcterms:modified>
  <cp:category/>
</cp:coreProperties>
</file>